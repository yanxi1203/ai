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3e93ff86f846c8" /><Relationship Type="http://schemas.openxmlformats.org/officeDocument/2006/relationships/extended-properties" Target="/docProps/app.xml" Id="Rd295e5b58880475c" /><Relationship Type="http://schemas.openxmlformats.org/officeDocument/2006/relationships/officeDocument" Target="/ppt/presentation.xml" Id="Rc31e365b5c5146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8a3c7b24e944cf"/>
  </p:sldMasterIdLst>
  <p:notesMasterIdLst>
    <p:notesMasterId xmlns:r="http://schemas.openxmlformats.org/officeDocument/2006/relationships" r:id="R6cfb91c99c6c4b63"/>
  </p:notesMasterIdLst>
  <p:sldIdLst>
    <p:sldId xmlns:r="http://schemas.openxmlformats.org/officeDocument/2006/relationships" id="256" r:id="R3bb3e2b71fe24528"/>
    <p:sldId xmlns:r="http://schemas.openxmlformats.org/officeDocument/2006/relationships" id="257" r:id="R683e8d285d1c484e"/>
    <p:sldId xmlns:r="http://schemas.openxmlformats.org/officeDocument/2006/relationships" id="258" r:id="Ra5025a15810544e4"/>
    <p:sldId xmlns:r="http://schemas.openxmlformats.org/officeDocument/2006/relationships" id="259" r:id="Ra8bf683c2a8f4dff"/>
    <p:sldId xmlns:r="http://schemas.openxmlformats.org/officeDocument/2006/relationships" id="260" r:id="R30d422d711e74127"/>
    <p:sldId xmlns:r="http://schemas.openxmlformats.org/officeDocument/2006/relationships" id="261" r:id="Rcebd433f3fcd4bd0"/>
    <p:sldId xmlns:r="http://schemas.openxmlformats.org/officeDocument/2006/relationships" id="262" r:id="R3bbacdd219a34ddb"/>
    <p:sldId xmlns:r="http://schemas.openxmlformats.org/officeDocument/2006/relationships" id="263" r:id="R92324ff9b37543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457afc634b4170" /><Relationship Type="http://schemas.openxmlformats.org/officeDocument/2006/relationships/slideMaster" Target="/ppt/slideMasters/slideMaster1.xml" Id="R0e8a3c7b24e944cf" /><Relationship Type="http://schemas.openxmlformats.org/officeDocument/2006/relationships/notesMaster" Target="/ppt/notesMasters/notesMaster1.xml" Id="R6cfb91c99c6c4b63" /><Relationship Type="http://schemas.openxmlformats.org/officeDocument/2006/relationships/presProps" Target="/ppt/presProps.xml" Id="R6cba0c06e4bd4d96" /><Relationship Type="http://schemas.openxmlformats.org/officeDocument/2006/relationships/tableStyles" Target="/ppt/tableStyles.xml" Id="Re76dba2546594563" /><Relationship Type="http://schemas.openxmlformats.org/officeDocument/2006/relationships/slide" Target="/ppt/slides/slide1.xml" Id="R3bb3e2b71fe24528" /><Relationship Type="http://schemas.openxmlformats.org/officeDocument/2006/relationships/slide" Target="/ppt/slides/slide2.xml" Id="R683e8d285d1c484e" /><Relationship Type="http://schemas.openxmlformats.org/officeDocument/2006/relationships/slide" Target="/ppt/slides/slide3.xml" Id="Ra5025a15810544e4" /><Relationship Type="http://schemas.openxmlformats.org/officeDocument/2006/relationships/slide" Target="/ppt/slides/slide4.xml" Id="Ra8bf683c2a8f4dff" /><Relationship Type="http://schemas.openxmlformats.org/officeDocument/2006/relationships/slide" Target="/ppt/slides/slide5.xml" Id="R30d422d711e74127" /><Relationship Type="http://schemas.openxmlformats.org/officeDocument/2006/relationships/slide" Target="/ppt/slides/slide6.xml" Id="Rcebd433f3fcd4bd0" /><Relationship Type="http://schemas.openxmlformats.org/officeDocument/2006/relationships/slide" Target="/ppt/slides/slide7.xml" Id="R3bbacdd219a34ddb" /><Relationship Type="http://schemas.openxmlformats.org/officeDocument/2006/relationships/slide" Target="/ppt/slides/slide8.xml" Id="R92324ff9b37543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58f049a1044c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87887d1aeb4e4b" /><Relationship Type="http://schemas.openxmlformats.org/officeDocument/2006/relationships/notesMaster" Target="/ppt/notesMasters/notesMaster1.xml" Id="R379a7e8f52f941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e8f68234dc4e73" /><Relationship Type="http://schemas.openxmlformats.org/officeDocument/2006/relationships/notesMaster" Target="/ppt/notesMasters/notesMaster1.xml" Id="R814bc2b2245e48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3fc7fe4aec462f" /><Relationship Type="http://schemas.openxmlformats.org/officeDocument/2006/relationships/notesMaster" Target="/ppt/notesMasters/notesMaster1.xml" Id="Rcbdbc5ca695649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7287f86a904f0f" /><Relationship Type="http://schemas.openxmlformats.org/officeDocument/2006/relationships/notesMaster" Target="/ppt/notesMasters/notesMaster1.xml" Id="R9cc0d0202ab14f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222b2193e2413c" /><Relationship Type="http://schemas.openxmlformats.org/officeDocument/2006/relationships/notesMaster" Target="/ppt/notesMasters/notesMaster1.xml" Id="Rce0d3dc7586c40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9e789f2d0b44cf" /><Relationship Type="http://schemas.openxmlformats.org/officeDocument/2006/relationships/notesMaster" Target="/ppt/notesMasters/notesMaster1.xml" Id="R342ad6cbf5604b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5e90703de941cb" /><Relationship Type="http://schemas.openxmlformats.org/officeDocument/2006/relationships/notesMaster" Target="/ppt/notesMasters/notesMaster1.xml" Id="R16995a212d9844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4453a28d2a4814" /><Relationship Type="http://schemas.openxmlformats.org/officeDocument/2006/relationships/notesMaster" Target="/ppt/notesMasters/notesMaster1.xml" Id="R5a2e04cf209049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大家好，我的專題是 Fin，一款給第一次開始理財的人使用的 AI 財務管家。它不是滿版聊天機器人，而是把 AI 放進記帳、提醒與目標規劃裡，讓使用者用最自然的方式開始。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screenshot: ai-finance-app/artifacts/production-home-iphone14.png</a:t>
            </a:r>
          </a:p>
          <a:p xmlns:a="http://schemas.openxmlformats.org/drawingml/2006/main">
            <a:r>
              <a:t>- Local asset: ai-finance-app/src/assets/fin-placeholder.png</a:t>
            </a:r>
          </a:p>
          <a:p xmlns:a="http://schemas.openxmlformats.org/drawingml/2006/main">
            <a:r>
              <a:t>- AI 財務管家 PRD 一個月鎖定版.md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我的主要受眾不是已經會做複雜理財的人，而是剛開始管理零用錢、生活費或打工收入的學生。她們最大的問題不是完全沒有記帳概念，而是操作太麻煩、記完也看不懂，最後很難持續。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財務管家 PRD 一個月鎖定版.md — 產品背景、目標使用者與核心價值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我最後把產品定位鎖定為：記帳是核心，AI 是理解與陪伴層。首頁能清楚感受到管家存在，但帳本和設定仍像熟悉的財務工具，避免新奇感反而增加操作成本。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財務管家 PRD 一個月鎖定版.md — 產品原則、定位邊界、UI/UX 原則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首次流程的重點不是收集越多資料越好，而是讓首頁第一次出現的預算有意義。使用者先幫管家取名，再填收入與固定支出；如果收入真的不知道，系統會保留待估算狀態，不會用零元製造錯誤警報。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screenshot: ai-finance-app/首次使用Fin歡迎畫面.png</a:t>
            </a:r>
          </a:p>
          <a:p xmlns:a="http://schemas.openxmlformats.org/drawingml/2006/main">
            <a:r>
              <a:t>- AI 財務管家 MVP 一個月鎖定版.md — 首頁狀態與邊界條件</a:t>
            </a:r>
          </a:p>
          <a:p xmlns:a="http://schemas.openxmlformats.org/drawingml/2006/main">
            <a:r>
              <a:t>- Local implementation: src/pages/OnboardingFlow.jsx and src/modules/finance/monthlyPlan.js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 MVP 最重要的閉環。使用者不用先學表單，只要說午餐一百一十元。明確記帳直接建立；如果只是聊天順口提到花費，Fin 才會先確認。記錯也不用進帳本找，可以直接跟管家說改成多少。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screenshot: ai-finance-app/artifacts/home-success-toast-mobile.png</a:t>
            </a:r>
          </a:p>
          <a:p xmlns:a="http://schemas.openxmlformats.org/drawingml/2006/main">
            <a:r>
              <a:t>- AI 財務管家 PRD 一個月鎖定版.md — 混合式確認規則</a:t>
            </a:r>
          </a:p>
          <a:p xmlns:a="http://schemas.openxmlformats.org/drawingml/2006/main">
            <a:r>
              <a:t>- Local implementation: src/modules/transactions/transactionAssistant.js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記帳完成後，資料會同步到首頁、帳本與分析。帳本有總覽、月曆和流水帳三種方式；分析用橫向長條圖，因為分類名稱和金額可以在同一視線比較。切換月份時，頁首、分類、紀錄和匯出也會一起切換，避免數字不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screenshot: ai-finance-app/帳本摘要對齊修正版.png</a:t>
            </a:r>
          </a:p>
          <a:p xmlns:a="http://schemas.openxmlformats.org/drawingml/2006/main">
            <a:r>
              <a:t>- AI 財務管家 MVP 一個月鎖定版.md — F03 帳本管理與 F05 基本分析</a:t>
            </a:r>
          </a:p>
          <a:p xmlns:a="http://schemas.openxmlformats.org/drawingml/2006/main">
            <a:r>
              <a:t>- Local implementation: src/modules/finance/financeSummary.js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使用者不會只有一個夢想，所以目標可以建立多個，也能完成、封存或恢復。最低只要先填名稱，不知道金額也沒關係。設定頁則不只放 AI 管家，而是包含外觀、字體、提醒、固定支出、載具與匯出。真正依網路行情估算旅行或商品價格，會放在後續串接，避免目前用假資料冒充即時結果。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screenshots: ai-finance-app/artifacts/production-new-user-goals-iphone14.png and production-settings-iphone14.png</a:t>
            </a:r>
          </a:p>
          <a:p xmlns:a="http://schemas.openxmlformats.org/drawingml/2006/main">
            <a:r>
              <a:t>- AI 財務管家 MVP 一個月鎖定版.md — F06 多個夢想目標</a:t>
            </a:r>
          </a:p>
          <a:p xmlns:a="http://schemas.openxmlformats.org/drawingml/2006/main">
            <a:r>
              <a:t>- AI 財務管家 PRD 一個月鎖定版.md — MVP 不包含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目前完成的不是只有畫面，而是一個可操作的 MVP：自然語言可以新增和修正帳目，首頁、帳本與分析同步重算，資料會存到本機後端，也有瀏覽器備援。完整測試、lint、正式建置與 HTTP 冒煙測試都通過。下一階段才會進入雲端帳號、發票 API、小工具和即時行情。我的結論是，AI 不需要讓畫面充滿科技感，只要在真正麻煩的地方幫使用者少做一步，就有價值。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verification result from project test/lint/build/smoke run on 2026-08-26</a:t>
            </a:r>
          </a:p>
          <a:p xmlns:a="http://schemas.openxmlformats.org/drawingml/2006/main">
            <a:r>
              <a:t>- Local architecture: ai-finance-app/ARCHITECTURE.md</a:t>
            </a:r>
          </a:p>
          <a:p xmlns:a="http://schemas.openxmlformats.org/drawingml/2006/main">
            <a:r>
              <a:t>- Local asset: ai-finance-app/src/assets/fin-placeholder.png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d12cd27b5046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7d23b16ca2487d" /><Relationship Type="http://schemas.openxmlformats.org/officeDocument/2006/relationships/slideLayout" Target="/ppt/slideLayouts/slideLayout1.xml" Id="R4799131c78234b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99131c78234b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8dec883da4dd6" /><Relationship Type="http://schemas.openxmlformats.org/officeDocument/2006/relationships/image" Target="/ppt/media/image.png" Id="Rff062aa568114b6c" /><Relationship Type="http://schemas.openxmlformats.org/officeDocument/2006/relationships/image" Target="/ppt/media/image2.png" Id="Rb8125c295b4a408e" /><Relationship Type="http://schemas.openxmlformats.org/officeDocument/2006/relationships/notesSlide" Target="/ppt/notesSlides/notesSlide1.xml" Id="R5b954f2a7d0b4b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f7bce1c02424a" /><Relationship Type="http://schemas.openxmlformats.org/officeDocument/2006/relationships/notesSlide" Target="/ppt/notesSlides/notesSlide2.xml" Id="Rcf6092f151084f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922ec03f14669" /><Relationship Type="http://schemas.openxmlformats.org/officeDocument/2006/relationships/notesSlide" Target="/ppt/notesSlides/notesSlide3.xml" Id="R0f243efc8fc642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fdca2a9d3485a" /><Relationship Type="http://schemas.openxmlformats.org/officeDocument/2006/relationships/image" Target="/ppt/media/image.jpeg" Id="R0856ceaa4f054519" /><Relationship Type="http://schemas.openxmlformats.org/officeDocument/2006/relationships/notesSlide" Target="/ppt/notesSlides/notesSlide4.xml" Id="R9fb54bf7dde64f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56f1cd29543b2" /><Relationship Type="http://schemas.openxmlformats.org/officeDocument/2006/relationships/image" Target="/ppt/media/image3.png" Id="Rd2692826c29649bb" /><Relationship Type="http://schemas.openxmlformats.org/officeDocument/2006/relationships/notesSlide" Target="/ppt/notesSlides/notesSlide5.xml" Id="R0a86cf0045d147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1c168885f4702" /><Relationship Type="http://schemas.openxmlformats.org/officeDocument/2006/relationships/image" Target="/ppt/media/image2.jpeg" Id="R9b69dcdfc8cc4459" /><Relationship Type="http://schemas.openxmlformats.org/officeDocument/2006/relationships/notesSlide" Target="/ppt/notesSlides/notesSlide6.xml" Id="R0d097fda7b2b45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bbef55bae4033" /><Relationship Type="http://schemas.openxmlformats.org/officeDocument/2006/relationships/image" Target="/ppt/media/image4.png" Id="Rb4ee73821be44845" /><Relationship Type="http://schemas.openxmlformats.org/officeDocument/2006/relationships/image" Target="/ppt/media/image5.png" Id="R899641a594664b89" /><Relationship Type="http://schemas.openxmlformats.org/officeDocument/2006/relationships/notesSlide" Target="/ppt/notesSlides/notesSlide7.xml" Id="R996ba1ddf98f43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ade283c94437a" /><Relationship Type="http://schemas.openxmlformats.org/officeDocument/2006/relationships/image" Target="/ppt/media/image6.png" Id="R362534f26ace46ab" /><Relationship Type="http://schemas.openxmlformats.org/officeDocument/2006/relationships/notesSlide" Target="/ppt/notesSlides/notesSlide8.xml" Id="R24982bcd3a2844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66A6E-4A13-4704-9F11-8E62558F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DF105-70FE-4151-AC1D-BF76395C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7264"/>
                </a:solidFill>
              </a:defRPr>
            </a:pPr>
            <a:r>
              <a:rPr sz="1275" b="1">
                <a:solidFill>
                  <a:srgbClr val="557264"/>
                </a:solidFill>
              </a:rPr>
              <a:t>FIN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7338C-050E-4754-8FCD-A4286C85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5905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83027"/>
                </a:solidFill>
              </a:defRPr>
            </a:pPr>
            <a:r>
              <a:rPr sz="5250" b="1">
                <a:solidFill>
                  <a:srgbClr val="183027"/>
                </a:solidFill>
              </a:rPr>
              <a:t>陪你把錢看懂的</a:t>
            </a:r>
          </a:p>
          <a:p xmlns:a="http://schemas.openxmlformats.org/drawingml/2006/main">
            <a:pPr algn="l">
              <a:defRPr sz="5250" b="1">
                <a:solidFill>
                  <a:srgbClr val="183027"/>
                </a:solidFill>
              </a:defRPr>
            </a:pPr>
            <a:r>
              <a:rPr sz="5250" b="1">
                <a:solidFill>
                  <a:srgbClr val="183027"/>
                </a:solidFill>
              </a:rPr>
              <a:t>AI 財務管家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4ADC7-D893-4C71-80E0-AD1E6D5A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42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871"/>
                </a:solidFill>
              </a:defRPr>
            </a:pPr>
            <a:r>
              <a:rPr sz="1875" b="0">
                <a:solidFill>
                  <a:srgbClr val="687871"/>
                </a:solidFill>
              </a:rPr>
              <a:t>為第一次學理財的高中生與大學生，</a:t>
            </a:r>
          </a:p>
          <a:p xmlns:a="http://schemas.openxmlformats.org/drawingml/2006/main">
            <a:pPr algn="l">
              <a:defRPr sz="1875" b="0">
                <a:solidFill>
                  <a:srgbClr val="687871"/>
                </a:solidFill>
              </a:defRPr>
            </a:pPr>
            <a:r>
              <a:rPr sz="1875" b="0">
                <a:solidFill>
                  <a:srgbClr val="687871"/>
                </a:solidFill>
              </a:rPr>
              <a:t>降低記帳門檻、看懂預算，也開始存下夢想。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8D8B1-A52A-4A3B-A7EF-C419CB5A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594C8-70CC-4AD2-9524-D3F95707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7264"/>
                </a:solidFill>
              </a:defRPr>
            </a:pPr>
            <a:r>
              <a:rPr sz="1500" b="1">
                <a:solidFill>
                  <a:srgbClr val="557264"/>
                </a:solidFill>
              </a:rPr>
              <a:t>手機直式 Web App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2FD1C-3385-4798-A6F8-894BAB04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90550"/>
            <a:ext cx="2933700" cy="617220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62aa568114b6c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666750"/>
            <a:ext cx="2781300" cy="6019800"/>
          </a:xfrm>
          <a:prstGeom xmlns:a="http://schemas.openxmlformats.org/drawingml/2006/main" prst="roundRect">
            <a:avLst>
              <a:gd name="adj" fmla="val 5479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25c295b4a408e"/>
          <a:stretch xmlns:a="http://schemas.openxmlformats.org/drawingml/2006/main"/>
        </p:blipFill>
        <p:spPr>
          <a:xfrm xmlns:a="http://schemas.openxmlformats.org/drawingml/2006/main">
            <a:off x="5952760" y="4400550"/>
            <a:ext cx="2286730" cy="247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8338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B1D43D-E406-48D7-AFC7-1483C642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23BF0-453D-4797-9BC9-83E489BA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7264"/>
                </a:solidFill>
              </a:defRPr>
            </a:pPr>
            <a:r>
              <a:rPr sz="1050" b="1">
                <a:solidFill>
                  <a:srgbClr val="557264"/>
                </a:solidFill>
              </a:rPr>
              <a:t>WHY THIS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1FB2A-5378-41CF-BF72-5802D4D2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286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871"/>
                </a:solidFill>
              </a:defRPr>
            </a:pPr>
            <a:r>
              <a:rPr sz="1050" b="0">
                <a:solidFill>
                  <a:srgbClr val="687871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6D344-3EF0-4F9C-9871-30B7EE06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027"/>
                </a:solidFill>
              </a:defRPr>
            </a:pPr>
            <a:r>
              <a:rPr sz="3600" b="1">
                <a:solidFill>
                  <a:srgbClr val="183027"/>
                </a:solidFill>
              </a:rPr>
              <a:t>問題不是不知道要記，而是很難持續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2CDCC-F5C7-496B-B969-EF454D26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96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871"/>
                </a:solidFill>
              </a:defRPr>
            </a:pPr>
            <a:r>
              <a:rPr sz="1500" b="0">
                <a:solidFill>
                  <a:srgbClr val="687871"/>
                </a:solidFill>
              </a:rPr>
              <a:t>從剛上大學、正在打工的女生視角出發。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7AE8C-7656-432A-AC17-DCE692C6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3429000" cy="40195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EBCEB-D981-4E0B-8FBC-ED933DDD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7264"/>
                </a:solidFill>
              </a:defRPr>
            </a:pPr>
            <a:r>
              <a:rPr sz="1350" b="1">
                <a:solidFill>
                  <a:srgbClr val="557264"/>
                </a:solidFill>
              </a:rPr>
              <a:t>主要受眾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88578-5151-4B92-B769-B7C48E47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6479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027"/>
                </a:solidFill>
              </a:defRPr>
            </a:pPr>
            <a:r>
              <a:rPr sz="2550" b="1">
                <a:solidFill>
                  <a:srgbClr val="183027"/>
                </a:solidFill>
              </a:rPr>
              <a:t>第一次學理財的</a:t>
            </a:r>
          </a:p>
          <a:p xmlns:a="http://schemas.openxmlformats.org/drawingml/2006/main">
            <a:pPr algn="l">
              <a:defRPr sz="2550" b="1">
                <a:solidFill>
                  <a:srgbClr val="183027"/>
                </a:solidFill>
              </a:defRPr>
            </a:pPr>
            <a:r>
              <a:rPr sz="2550" b="1">
                <a:solidFill>
                  <a:srgbClr val="183027"/>
                </a:solidFill>
              </a:rPr>
              <a:t>高中生與大學生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5AA44-5232-4D97-AF27-6DF7EDED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2647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871"/>
                </a:solidFill>
              </a:defRPr>
            </a:pPr>
            <a:r>
              <a:rPr sz="1575" b="0">
                <a:solidFill>
                  <a:srgbClr val="687871"/>
                </a:solidFill>
              </a:rPr>
              <a:t>收入可能是零用錢、生活費或打工薪水；對繁瑣表單的容忍度低，也不一定知道預算該怎麼分。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48CB5-5B46-4A72-82EF-3015DEFA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7685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7264"/>
                </a:solidFill>
              </a:defRPr>
            </a:pPr>
            <a:r>
              <a:rPr sz="1350" b="1">
                <a:solidFill>
                  <a:srgbClr val="557264"/>
                </a:solidFill>
              </a:rPr>
              <a:t>核心目標：讓原本懶得記帳的人，願意開始並持續。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2220D-4B0A-4225-9A08-740458B9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C9B43-1A0C-4ADB-8473-48B9CF51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7646B6-0DA4-4E1C-86DD-180BCE44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381092-2A5D-4F63-A825-A37992A7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3835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027"/>
                </a:solidFill>
              </a:defRPr>
            </a:pPr>
            <a:r>
              <a:rPr sz="1800" b="1">
                <a:solidFill>
                  <a:srgbClr val="183027"/>
                </a:solidFill>
              </a:rPr>
              <a:t>記帳步驟太多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C3F81-1D80-4F65-B2CB-6FA80523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62200"/>
            <a:ext cx="556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871"/>
                </a:solidFill>
              </a:defRPr>
            </a:pPr>
            <a:r>
              <a:rPr sz="1350" b="0">
                <a:solidFill>
                  <a:srgbClr val="687871"/>
                </a:solidFill>
              </a:rPr>
              <a:t>每筆都要選分類、日期與欄位，久了就不想打開。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32D9E-797D-44E8-92D8-EB6D3B24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94C730-B9EB-4B7A-BF3C-37C20237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503A19-B149-412A-AEB6-8847AA61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F5FA87-D343-4015-9D5A-AEEC4656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5280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027"/>
                </a:solidFill>
              </a:defRPr>
            </a:pPr>
            <a:r>
              <a:rPr sz="1800" b="1">
                <a:solidFill>
                  <a:srgbClr val="183027"/>
                </a:solidFill>
              </a:rPr>
              <a:t>數字有了，仍看不懂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08D0A-3560-4913-8199-217336CB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76650"/>
            <a:ext cx="556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871"/>
                </a:solidFill>
              </a:defRPr>
            </a:pPr>
            <a:r>
              <a:rPr sz="1350" b="0">
                <a:solidFill>
                  <a:srgbClr val="687871"/>
                </a:solidFill>
              </a:rPr>
              <a:t>記完帳卻不知道本月花得快不快、還能用多少。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F7AEA8-EF52-4827-9A25-4F23D523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48EA3F-8BC4-4CBB-9267-56F8F9EF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C7FCCF-39B9-4812-8DF8-C3681E16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7D8C7-B695-4BDC-971C-A0353D46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6725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027"/>
                </a:solidFill>
              </a:defRPr>
            </a:pPr>
            <a:r>
              <a:rPr sz="1800" b="1">
                <a:solidFill>
                  <a:srgbClr val="183027"/>
                </a:solidFill>
              </a:rPr>
              <a:t>夢想很具體，存法很模糊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DCD6AB-1B15-4DB1-8A1D-18DF16E9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91100"/>
            <a:ext cx="556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871"/>
                </a:solidFill>
              </a:defRPr>
            </a:pPr>
            <a:r>
              <a:rPr sz="1350" b="0">
                <a:solidFill>
                  <a:srgbClr val="687871"/>
                </a:solidFill>
              </a:rPr>
              <a:t>想買電腦或去英國，但不知道目標金額、期限與每月配置。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1504DD-B4E3-4CEB-BAA4-B34775C9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7948E"/>
                </a:solidFill>
              </a:defRPr>
            </a:pPr>
            <a:r>
              <a:rPr sz="900" b="0">
                <a:solidFill>
                  <a:srgbClr val="87948E"/>
                </a:solidFill>
              </a:rPr>
              <a:t>AI 財務管家｜個人專題</a:t>
            </a:r>
          </a:p>
        </p:txBody>
      </p:sp>
    </p:spTree>
    <p:extLst>
      <p:ext uri="{BB962C8B-B14F-4D97-AF65-F5344CB8AC3E}">
        <p14:creationId xmlns:p14="http://schemas.microsoft.com/office/powerpoint/2010/main" val="19483953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B05132-F0CB-43D8-9771-77E3CACA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0E0EF-87CC-4D7C-8213-B6A7663B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7264"/>
                </a:solidFill>
              </a:defRPr>
            </a:pPr>
            <a:r>
              <a:rPr sz="1050" b="1">
                <a:solidFill>
                  <a:srgbClr val="557264"/>
                </a:solidFill>
              </a:rPr>
              <a:t>PRODUCT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8D7A8-06DF-4836-934C-CEC71B4E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286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871"/>
                </a:solidFill>
              </a:defRPr>
            </a:pPr>
            <a:r>
              <a:rPr sz="1050" b="0">
                <a:solidFill>
                  <a:srgbClr val="687871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8BB7D-4AF4-45ED-ACB9-B53C481E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027"/>
                </a:solidFill>
              </a:defRPr>
            </a:pPr>
            <a:r>
              <a:rPr sz="3600" b="1">
                <a:solidFill>
                  <a:srgbClr val="183027"/>
                </a:solidFill>
              </a:rPr>
              <a:t>AI 是理解層，記帳工具仍然清楚可控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41EC7-8BEF-4A49-9B07-F29D409C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96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871"/>
                </a:solidFill>
              </a:defRPr>
            </a:pPr>
            <a:r>
              <a:rPr sz="1500" b="0">
                <a:solidFill>
                  <a:srgbClr val="687871"/>
                </a:solidFill>
              </a:rPr>
              <a:t>不追求「滿版 AI 感」，而是把對話能力放在真正能省步驟的地方。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8CBA5-9433-406F-AC80-A21FCDC8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027"/>
                </a:solidFill>
              </a:defRPr>
            </a:pPr>
            <a:r>
              <a:rPr sz="2250" b="1">
                <a:solidFill>
                  <a:srgbClr val="183027"/>
                </a:solidFill>
              </a:rPr>
              <a:t>說一句話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A58EF-8F31-428C-9582-0357633A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66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E8A27D"/>
                </a:solidFill>
              </a:defRPr>
            </a:pPr>
            <a:r>
              <a:rPr sz="2550" b="0">
                <a:solidFill>
                  <a:srgbClr val="E8A27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8E26F-5F2E-4C36-8E54-77413960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027"/>
                </a:solidFill>
              </a:defRPr>
            </a:pPr>
            <a:r>
              <a:rPr sz="2250" b="1">
                <a:solidFill>
                  <a:srgbClr val="183027"/>
                </a:solidFill>
              </a:rPr>
              <a:t>正確記錄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268B5-E366-42AB-BF7E-2B411AEB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66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E8A27D"/>
                </a:solidFill>
              </a:defRPr>
            </a:pPr>
            <a:r>
              <a:rPr sz="2550" b="0">
                <a:solidFill>
                  <a:srgbClr val="E8A27D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348A0-1211-4289-BFE1-A3ABC766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66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027"/>
                </a:solidFill>
              </a:defRPr>
            </a:pPr>
            <a:r>
              <a:rPr sz="2250" b="1">
                <a:solidFill>
                  <a:srgbClr val="183027"/>
                </a:solidFill>
              </a:rPr>
              <a:t>看懂現況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091DA-1E08-4199-9EB9-A779462D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E8A27D"/>
                </a:solidFill>
              </a:defRPr>
            </a:pPr>
            <a:r>
              <a:rPr sz="2550" b="0">
                <a:solidFill>
                  <a:srgbClr val="E8A27D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292F1-4D39-4746-830A-7C4153CF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027"/>
                </a:solidFill>
              </a:defRPr>
            </a:pPr>
            <a:r>
              <a:rPr sz="2250" b="1">
                <a:solidFill>
                  <a:srgbClr val="183027"/>
                </a:solidFill>
              </a:rPr>
              <a:t>規劃下一步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93A6C-378A-4057-9404-CAE8EA8A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1015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73B23-F642-4A0A-A29C-C7C13D8D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57264"/>
                </a:solidFill>
              </a:defRPr>
            </a:pPr>
            <a:r>
              <a:rPr sz="1575" b="1">
                <a:solidFill>
                  <a:srgbClr val="557264"/>
                </a:solidFill>
              </a:rPr>
              <a:t>首頁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E5C378-B138-4412-AAD6-21B3B5FC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027"/>
                </a:solidFill>
              </a:defRPr>
            </a:pPr>
            <a:r>
              <a:rPr sz="2025" b="1">
                <a:solidFill>
                  <a:srgbClr val="183027"/>
                </a:solidFill>
              </a:rPr>
              <a:t>管家身分＋快速輸入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82660-CADC-4721-9608-FF03A403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871"/>
                </a:solidFill>
              </a:defRPr>
            </a:pPr>
            <a:r>
              <a:rPr sz="1275" b="0">
                <a:solidFill>
                  <a:srgbClr val="687871"/>
                </a:solidFill>
              </a:rPr>
              <a:t>AI 比重中高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748049-DB15-4CA0-9F68-316FBD87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48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57264"/>
                </a:solidFill>
              </a:defRPr>
            </a:pPr>
            <a:r>
              <a:rPr sz="1575" b="1">
                <a:solidFill>
                  <a:srgbClr val="557264"/>
                </a:solidFill>
              </a:rPr>
              <a:t>帳本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B1031B-8E06-45E2-B723-9116EC25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48100"/>
            <a:ext cx="2324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027"/>
                </a:solidFill>
              </a:defRPr>
            </a:pPr>
            <a:r>
              <a:rPr sz="2025" b="1">
                <a:solidFill>
                  <a:srgbClr val="183027"/>
                </a:solidFill>
              </a:rPr>
              <a:t>查帳、月曆、流水帳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FE934-AA3A-4E1C-A116-4C8CB088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29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871"/>
                </a:solidFill>
              </a:defRPr>
            </a:pPr>
            <a:r>
              <a:rPr sz="1275" b="0">
                <a:solidFill>
                  <a:srgbClr val="687871"/>
                </a:solidFill>
              </a:rPr>
              <a:t>AI 比重低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6A14E8-F170-46F7-9DDE-14C07D63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48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57264"/>
                </a:solidFill>
              </a:defRPr>
            </a:pPr>
            <a:r>
              <a:rPr sz="1575" b="1">
                <a:solidFill>
                  <a:srgbClr val="557264"/>
                </a:solidFill>
              </a:rPr>
              <a:t>分析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01465-83EF-47B1-843F-F8E6A0A1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48100"/>
            <a:ext cx="224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027"/>
                </a:solidFill>
              </a:defRPr>
            </a:pPr>
            <a:r>
              <a:rPr sz="2025" b="1">
                <a:solidFill>
                  <a:srgbClr val="183027"/>
                </a:solidFill>
              </a:rPr>
              <a:t>長條圖＋一句解讀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B0A3F5-8801-4D53-BFFA-681F6DD8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29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871"/>
                </a:solidFill>
              </a:defRPr>
            </a:pPr>
            <a:r>
              <a:rPr sz="1275" b="0">
                <a:solidFill>
                  <a:srgbClr val="687871"/>
                </a:solidFill>
              </a:rPr>
              <a:t>AI 比重中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4F95F5-3116-4535-A8E2-8FF9A5E9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48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57264"/>
                </a:solidFill>
              </a:defRPr>
            </a:pPr>
            <a:r>
              <a:rPr sz="1575" b="1">
                <a:solidFill>
                  <a:srgbClr val="557264"/>
                </a:solidFill>
              </a:rPr>
              <a:t>設定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FD70BE-C3BE-43E3-AC47-D2759232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481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027"/>
                </a:solidFill>
              </a:defRPr>
            </a:pPr>
            <a:r>
              <a:rPr sz="2025" b="1">
                <a:solidFill>
                  <a:srgbClr val="183027"/>
                </a:solidFill>
              </a:rPr>
              <a:t>偏好與資料控制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38F23D-A3CE-49E5-9789-312A9249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29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871"/>
                </a:solidFill>
              </a:defRPr>
            </a:pPr>
            <a:r>
              <a:rPr sz="1275" b="0">
                <a:solidFill>
                  <a:srgbClr val="687871"/>
                </a:solidFill>
              </a:rPr>
              <a:t>AI 比重低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256980-7EAC-4A2A-AE0E-D9E24D59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9906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17DA03-AEBF-477C-8688-49060968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62600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7264"/>
                </a:solidFill>
              </a:defRPr>
            </a:pPr>
            <a:r>
              <a:rPr sz="1500" b="1">
                <a:solidFill>
                  <a:srgbClr val="557264"/>
                </a:solidFill>
              </a:rPr>
              <a:t>定位邊界：Fin 會理解、提醒、分析與建議；不替使用者做投資或重大財務決策。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7D5593-E03A-4839-9778-0E4C997A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7948E"/>
                </a:solidFill>
              </a:defRPr>
            </a:pPr>
            <a:r>
              <a:rPr sz="900" b="0">
                <a:solidFill>
                  <a:srgbClr val="87948E"/>
                </a:solidFill>
              </a:rPr>
              <a:t>AI 財務管家｜個人專題</a:t>
            </a:r>
          </a:p>
        </p:txBody>
      </p:sp>
    </p:spTree>
    <p:extLst>
      <p:ext uri="{BB962C8B-B14F-4D97-AF65-F5344CB8AC3E}">
        <p14:creationId xmlns:p14="http://schemas.microsoft.com/office/powerpoint/2010/main" val="17712691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FCF6DE-3989-4D98-A93E-0CDDBCDB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29905-5AEC-42AF-89B3-76425542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7264"/>
                </a:solidFill>
              </a:defRPr>
            </a:pPr>
            <a:r>
              <a:rPr sz="1050" b="1">
                <a:solidFill>
                  <a:srgbClr val="557264"/>
                </a:solidFill>
              </a:rPr>
              <a:t>FIRST-RUN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84509-608C-4DB7-A562-17A35CE8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286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871"/>
                </a:solidFill>
              </a:defRPr>
            </a:pPr>
            <a:r>
              <a:rPr sz="1050" b="0">
                <a:solidFill>
                  <a:srgbClr val="687871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6AB96-43A6-40BE-9A9D-4E34D30A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027"/>
                </a:solidFill>
              </a:defRPr>
            </a:pPr>
            <a:r>
              <a:rPr sz="3600" b="1">
                <a:solidFill>
                  <a:srgbClr val="183027"/>
                </a:solidFill>
              </a:rPr>
              <a:t>第一次打開，就先把「這個月」設定好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22439-582B-4659-A4F0-362BC693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96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871"/>
                </a:solidFill>
              </a:defRPr>
            </a:pPr>
            <a:r>
              <a:rPr sz="1500" b="0">
                <a:solidFill>
                  <a:srgbClr val="687871"/>
                </a:solidFill>
              </a:rPr>
              <a:t>從管家命名開始，再逐步取得收入、固定支出與儲蓄期待。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41E65-99D8-4D03-9F0A-98B9282F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2486025" cy="491490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6ceaa4f054519"/>
          <a:srcRect xmlns:a="http://schemas.openxmlformats.org/drawingml/2006/main" l="0" t="2793" r="0" b="27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1733550"/>
            <a:ext cx="2333625" cy="4762500"/>
          </a:xfrm>
          <a:prstGeom xmlns:a="http://schemas.openxmlformats.org/drawingml/2006/main" prst="roundRect">
            <a:avLst>
              <a:gd name="adj" fmla="val 653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B8FB4-7A57-4066-85FD-4CFDED3A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764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E2C76-C9AD-4EDF-AB62-E7A197A0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24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A27D"/>
                </a:solidFill>
              </a:defRPr>
            </a:pPr>
            <a:r>
              <a:rPr sz="1275" b="1">
                <a:solidFill>
                  <a:srgbClr val="E8A27D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B10B46-EEB0-4C64-B3AD-E2521363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479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027"/>
                </a:solidFill>
              </a:defRPr>
            </a:pPr>
            <a:r>
              <a:rPr sz="2175" b="1">
                <a:solidFill>
                  <a:srgbClr val="183027"/>
                </a:solidFill>
              </a:rPr>
              <a:t>先替管家取名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5D608-03E5-43A6-BFFE-E6132AB9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8605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871"/>
                </a:solidFill>
              </a:defRPr>
            </a:pPr>
            <a:r>
              <a:rPr sz="1425" b="0">
                <a:solidFill>
                  <a:srgbClr val="687871"/>
                </a:solidFill>
              </a:rPr>
              <a:t>初次見面還沒有名字，使用者命名後，後續提示與預算欄位都沿用。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91F6B-B324-4B27-B628-73D31C31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4290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A27D"/>
                </a:solidFill>
              </a:defRPr>
            </a:pPr>
            <a:r>
              <a:rPr sz="1275" b="1">
                <a:solidFill>
                  <a:srgbClr val="E8A27D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B5F8D3-247A-4236-BD52-82355130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528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027"/>
                </a:solidFill>
              </a:defRPr>
            </a:pPr>
            <a:r>
              <a:rPr sz="2175" b="1">
                <a:solidFill>
                  <a:srgbClr val="183027"/>
                </a:solidFill>
              </a:rPr>
              <a:t>收入不知道，也能先繼續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62FCA3-56C7-4773-8EFD-6D17593B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910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871"/>
                </a:solidFill>
              </a:defRPr>
            </a:pPr>
            <a:r>
              <a:rPr sz="1425" b="0">
                <a:solidFill>
                  <a:srgbClr val="687871"/>
                </a:solidFill>
              </a:rPr>
              <a:t>不把「不知道」誤當 0 元；首頁會顯示待設定，而不是錯誤的超支警告。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53D30-4057-4C27-AC23-AD426DF0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339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A27D"/>
                </a:solidFill>
              </a:defRPr>
            </a:pPr>
            <a:r>
              <a:rPr sz="1275" b="1">
                <a:solidFill>
                  <a:srgbClr val="E8A27D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0A006D-7338-476E-8D77-5C980666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2578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027"/>
                </a:solidFill>
              </a:defRPr>
            </a:pPr>
            <a:r>
              <a:rPr sz="2175" b="1">
                <a:solidFill>
                  <a:srgbClr val="183027"/>
                </a:solidFill>
              </a:rPr>
              <a:t>固定支出可新增多筆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27C07-B16A-441F-A0BB-EE672696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69595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871"/>
                </a:solidFill>
              </a:defRPr>
            </a:pPr>
            <a:r>
              <a:rPr sz="1425" b="0">
                <a:solidFill>
                  <a:srgbClr val="687871"/>
                </a:solidFill>
              </a:rPr>
              <a:t>交通、房租、訂閱分開輸入；空白或 0 元會提示修正，避免設定後無聲消失。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B09F9A-C526-43E9-B73E-C7DFB097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7948E"/>
                </a:solidFill>
              </a:defRPr>
            </a:pPr>
            <a:r>
              <a:rPr sz="900" b="0">
                <a:solidFill>
                  <a:srgbClr val="87948E"/>
                </a:solidFill>
              </a:rPr>
              <a:t>AI 財務管家｜個人專題</a:t>
            </a:r>
          </a:p>
        </p:txBody>
      </p:sp>
    </p:spTree>
    <p:extLst>
      <p:ext uri="{BB962C8B-B14F-4D97-AF65-F5344CB8AC3E}">
        <p14:creationId xmlns:p14="http://schemas.microsoft.com/office/powerpoint/2010/main" val="4735426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DDACB1-07D4-4E20-9AE9-00FF3628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C4093-357C-4A27-BD75-1E50B6B7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7264"/>
                </a:solidFill>
              </a:defRPr>
            </a:pPr>
            <a:r>
              <a:rPr sz="1050" b="1">
                <a:solidFill>
                  <a:srgbClr val="557264"/>
                </a:solidFill>
              </a:rPr>
              <a:t>CORE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C73BF-B66B-4E1A-8B61-3C85581F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286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871"/>
                </a:solidFill>
              </a:defRPr>
            </a:pPr>
            <a:r>
              <a:rPr sz="1050" b="0">
                <a:solidFill>
                  <a:srgbClr val="687871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C2C1E-3F91-412A-910F-EA8DF0D6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027"/>
                </a:solidFill>
              </a:defRPr>
            </a:pPr>
            <a:r>
              <a:rPr sz="3600" b="1">
                <a:solidFill>
                  <a:srgbClr val="183027"/>
                </a:solidFill>
              </a:rPr>
              <a:t>一句「午餐 110 元」，完成記帳也保留修正權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2524E-871A-47F1-A22B-A4330CF6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96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871"/>
                </a:solidFill>
              </a:defRPr>
            </a:pPr>
            <a:r>
              <a:rPr sz="1500" b="0">
                <a:solidFill>
                  <a:srgbClr val="687871"/>
                </a:solidFill>
              </a:rPr>
              <a:t>明確指令直接建立；聊天提及、多筆金額或資料不足時才追問。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930C2-1A69-4F82-BBE1-9BC1CB7B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2895600" cy="51054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92826c29649bb"/>
          <a:srcRect xmlns:a="http://schemas.openxmlformats.org/drawingml/2006/main" l="0" t="8284" r="0" b="82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714500"/>
            <a:ext cx="2743200" cy="4953000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F89D5-AA66-465C-BEC7-FEB7664F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264"/>
                </a:solidFill>
              </a:defRPr>
            </a:pPr>
            <a:r>
              <a:rPr sz="1200" b="1">
                <a:solidFill>
                  <a:srgbClr val="557264"/>
                </a:solidFill>
              </a:rPr>
              <a:t>明確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72747-402F-43F3-9454-C56902E7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526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027"/>
                </a:solidFill>
              </a:defRPr>
            </a:pPr>
            <a:r>
              <a:rPr sz="2025" b="1">
                <a:solidFill>
                  <a:srgbClr val="183027"/>
                </a:solidFill>
              </a:rPr>
              <a:t>「幫我記帳，午餐 110 元」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8E292-F790-407F-BE7D-4691D0A7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90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871"/>
                </a:solidFill>
              </a:defRPr>
            </a:pPr>
            <a:r>
              <a:rPr sz="1425" b="0">
                <a:solidFill>
                  <a:srgbClr val="687871"/>
                </a:solidFill>
              </a:rPr>
              <a:t>→ 直接建立，顯示一句成功結果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AE715-B8A4-4A5C-99C8-7093D3A6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30023-7267-45E6-98B7-F4F6F4AD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718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A27D"/>
                </a:solidFill>
              </a:defRPr>
            </a:pPr>
            <a:r>
              <a:rPr sz="1200" b="1">
                <a:solidFill>
                  <a:srgbClr val="E8A27D"/>
                </a:solidFill>
              </a:rPr>
              <a:t>聊天提及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F394C-387E-48C2-B595-1EA1E850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14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027"/>
                </a:solidFill>
              </a:defRPr>
            </a:pPr>
            <a:r>
              <a:rPr sz="2025" b="1">
                <a:solidFill>
                  <a:srgbClr val="183027"/>
                </a:solidFill>
              </a:rPr>
              <a:t>「今天花了 110 元吃午餐」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EEA2D-5E0B-4FF5-B1DE-E04BB2CA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529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871"/>
                </a:solidFill>
              </a:defRPr>
            </a:pPr>
            <a:r>
              <a:rPr sz="1425" b="0">
                <a:solidFill>
                  <a:srgbClr val="687871"/>
                </a:solidFill>
              </a:rPr>
              <a:t>→ 先詢問是否要記帳，不把閒聊盲目寫入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A0B158-13B6-43E0-ADEE-5A0BA91A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0535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B7BFE-4195-417B-BBDD-AFC38856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339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264"/>
                </a:solidFill>
              </a:defRPr>
            </a:pPr>
            <a:r>
              <a:rPr sz="1200" b="1">
                <a:solidFill>
                  <a:srgbClr val="557264"/>
                </a:solidFill>
              </a:rPr>
              <a:t>有錯就說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1327E-2A6A-48F5-B4F3-FF1C34DF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027"/>
                </a:solidFill>
              </a:defRPr>
            </a:pPr>
            <a:r>
              <a:rPr sz="2025" b="1">
                <a:solidFill>
                  <a:srgbClr val="183027"/>
                </a:solidFill>
              </a:rPr>
              <a:t>「剛才午餐不是 110，是 130」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9268D5-D7C1-433A-86E9-A522DD37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715000"/>
            <a:ext cx="676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871"/>
                </a:solidFill>
              </a:defRPr>
            </a:pPr>
            <a:r>
              <a:rPr sz="1425" b="0">
                <a:solidFill>
                  <a:srgbClr val="687871"/>
                </a:solidFill>
              </a:rPr>
              <a:t>→ 管家定位既有紀錄並修改；不確定時只追問缺少資訊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D10B9-9380-4B77-8E37-F7B10E46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7948E"/>
                </a:solidFill>
              </a:defRPr>
            </a:pPr>
            <a:r>
              <a:rPr sz="900" b="0">
                <a:solidFill>
                  <a:srgbClr val="87948E"/>
                </a:solidFill>
              </a:rPr>
              <a:t>AI 財務管家｜個人專題</a:t>
            </a:r>
          </a:p>
        </p:txBody>
      </p:sp>
    </p:spTree>
    <p:extLst>
      <p:ext uri="{BB962C8B-B14F-4D97-AF65-F5344CB8AC3E}">
        <p14:creationId xmlns:p14="http://schemas.microsoft.com/office/powerpoint/2010/main" val="17713644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6FEDBF-C800-43B9-A064-93F575FA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39FFA-9B0C-475C-845B-7CE53C92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7264"/>
                </a:solidFill>
              </a:defRPr>
            </a:pPr>
            <a:r>
              <a:rPr sz="1050" b="1">
                <a:solidFill>
                  <a:srgbClr val="557264"/>
                </a:solidFill>
              </a:rPr>
              <a:t>FINANCIAL CLARITY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E2E11-E018-42A8-B358-6A1107C3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286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871"/>
                </a:solidFill>
              </a:defRPr>
            </a:pPr>
            <a:r>
              <a:rPr sz="1050" b="0">
                <a:solidFill>
                  <a:srgbClr val="687871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552E2-2B28-4C2E-80BF-02557788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027"/>
                </a:solidFill>
              </a:defRPr>
            </a:pPr>
            <a:r>
              <a:rPr sz="3600" b="1">
                <a:solidFill>
                  <a:srgbClr val="183027"/>
                </a:solidFill>
              </a:rPr>
              <a:t>記完不是終點：同一份資料同步到帳本與分析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9D88D-322A-4659-9F98-C61541F1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96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871"/>
                </a:solidFill>
              </a:defRPr>
            </a:pPr>
            <a:r>
              <a:rPr sz="1500" b="0">
                <a:solidFill>
                  <a:srgbClr val="687871"/>
                </a:solidFill>
              </a:rPr>
              <a:t>月份、摘要、分類、最近紀錄與 CSV 匯出都使用相同的月份投影。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ECCBB-C247-41B2-A497-C11436ED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876550" cy="5086350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9dcdfc8cc4459"/>
          <a:srcRect xmlns:a="http://schemas.openxmlformats.org/drawingml/2006/main" l="0" t="8104" r="0" b="8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95450"/>
            <a:ext cx="2724150" cy="4933950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19C67-FBF1-4C18-9C1A-410CAD41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478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027"/>
                </a:solidFill>
              </a:defRPr>
            </a:pPr>
            <a:r>
              <a:rPr sz="2175" b="1">
                <a:solidFill>
                  <a:srgbClr val="183027"/>
                </a:solidFill>
              </a:rPr>
              <a:t>帳本的三種看法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E060C-C4D2-4057-A095-90EB735A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384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7264"/>
                </a:solidFill>
              </a:defRPr>
            </a:pPr>
            <a:r>
              <a:rPr sz="1500" b="1">
                <a:solidFill>
                  <a:srgbClr val="557264"/>
                </a:solidFill>
              </a:rPr>
              <a:t>總覽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78769-56CD-41A2-BC78-66FFAAC2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384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027"/>
                </a:solidFill>
              </a:defRPr>
            </a:pPr>
            <a:r>
              <a:rPr sz="1500" b="0">
                <a:solidFill>
                  <a:srgbClr val="183027"/>
                </a:solidFill>
              </a:rPr>
              <a:t>分類長條圖與最近紀錄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7ED33-4AF6-44A2-9981-54802D1D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337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7264"/>
                </a:solidFill>
              </a:defRPr>
            </a:pPr>
            <a:r>
              <a:rPr sz="1500" b="1">
                <a:solidFill>
                  <a:srgbClr val="557264"/>
                </a:solidFill>
              </a:rPr>
              <a:t>月曆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A2F53-7133-4868-A117-1B3A3205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33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027"/>
                </a:solidFill>
              </a:defRPr>
            </a:pPr>
            <a:r>
              <a:rPr sz="1500" b="0">
                <a:solidFill>
                  <a:srgbClr val="183027"/>
                </a:solidFill>
              </a:rPr>
              <a:t>用日期找出當天收支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E2B33-3980-4EA0-BB2A-CAA7AC90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29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7264"/>
                </a:solidFill>
              </a:defRPr>
            </a:pPr>
            <a:r>
              <a:rPr sz="1500" b="1">
                <a:solidFill>
                  <a:srgbClr val="557264"/>
                </a:solidFill>
              </a:rPr>
              <a:t>流水帳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867F13-2519-4409-A441-BD96481A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027"/>
                </a:solidFill>
              </a:defRPr>
            </a:pPr>
            <a:r>
              <a:rPr sz="1500" b="0">
                <a:solidFill>
                  <a:srgbClr val="183027"/>
                </a:solidFill>
              </a:rPr>
              <a:t>搜尋、篩選、編輯與刪除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B16DA-C30C-49AB-AEE5-8AB6E1EA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0050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786468-31A2-4C75-9161-89F9C445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6720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027"/>
                </a:solidFill>
              </a:defRPr>
            </a:pPr>
            <a:r>
              <a:rPr sz="1800" b="1">
                <a:solidFill>
                  <a:srgbClr val="183027"/>
                </a:solidFill>
              </a:rPr>
              <a:t>分析用「橫向長條」讓分類更快比較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DE306A-3388-4D12-900C-7624163B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5775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7"/>
                </a:solidFill>
              </a:defRPr>
            </a:pPr>
            <a:r>
              <a:rPr sz="1350" b="1">
                <a:solidFill>
                  <a:srgbClr val="183027"/>
                </a:solidFill>
              </a:rPr>
              <a:t>娛樂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C7F88A-9058-480E-8803-C6C53405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14900"/>
            <a:ext cx="4000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B0866-3BD3-4040-9462-43D8932B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14900"/>
            <a:ext cx="148018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72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621F12-0C3D-4305-84A2-81115742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482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83027"/>
                </a:solidFill>
              </a:defRPr>
            </a:pPr>
            <a:r>
              <a:rPr sz="1350" b="0">
                <a:solidFill>
                  <a:srgbClr val="183027"/>
                </a:solidFill>
              </a:rPr>
              <a:t>$380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EA3054-140F-441C-8DA9-AC10E509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7210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7"/>
                </a:solidFill>
              </a:defRPr>
            </a:pPr>
            <a:r>
              <a:rPr sz="1350" b="1">
                <a:solidFill>
                  <a:srgbClr val="183027"/>
                </a:solidFill>
              </a:rPr>
              <a:t>飲食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E7A40B-50BF-452A-920B-7B225B63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429250"/>
            <a:ext cx="4000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349BB3-771B-4165-8BC7-29A9A3E9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429250"/>
            <a:ext cx="132016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2AE393-988B-498F-B366-3294B311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3625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83027"/>
                </a:solidFill>
              </a:defRPr>
            </a:pPr>
            <a:r>
              <a:rPr sz="1350" b="0">
                <a:solidFill>
                  <a:srgbClr val="183027"/>
                </a:solidFill>
              </a:rPr>
              <a:t>$345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226914-0A42-4B27-94BE-8141610D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8645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7"/>
                </a:solidFill>
              </a:defRPr>
            </a:pPr>
            <a:r>
              <a:rPr sz="1350" b="1">
                <a:solidFill>
                  <a:srgbClr val="183027"/>
                </a:solidFill>
              </a:rPr>
              <a:t>交通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45E4AE-31DD-4A24-A4F0-81D08F08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943600"/>
            <a:ext cx="40005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2236AA-0488-4308-831D-AEA26CCE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943600"/>
            <a:ext cx="12001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2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203093-31FE-4007-AF77-A89E95DF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8769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83027"/>
                </a:solidFill>
              </a:defRPr>
            </a:pPr>
            <a:r>
              <a:rPr sz="1350" b="0">
                <a:solidFill>
                  <a:srgbClr val="183027"/>
                </a:solidFill>
              </a:rPr>
              <a:t>$314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887AF5-3F9A-42B9-8B8E-63B18A13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400800"/>
            <a:ext cx="638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871"/>
                </a:solidFill>
              </a:defRPr>
            </a:pPr>
            <a:r>
              <a:rPr sz="1200" b="0">
                <a:solidFill>
                  <a:srgbClr val="687871"/>
                </a:solidFill>
              </a:rPr>
              <a:t>本月與上月比較｜目前月份預設，不讓上月明細一直佔畫面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81CDE4-C2C6-4F58-AF3A-0A9F8019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7948E"/>
                </a:solidFill>
              </a:defRPr>
            </a:pPr>
            <a:r>
              <a:rPr sz="900" b="0">
                <a:solidFill>
                  <a:srgbClr val="87948E"/>
                </a:solidFill>
              </a:rPr>
              <a:t>AI 財務管家｜個人專題</a:t>
            </a:r>
          </a:p>
        </p:txBody>
      </p:sp>
    </p:spTree>
    <p:extLst>
      <p:ext uri="{BB962C8B-B14F-4D97-AF65-F5344CB8AC3E}">
        <p14:creationId xmlns:p14="http://schemas.microsoft.com/office/powerpoint/2010/main" val="20953231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4E9A36-3CB7-4269-9450-A33EB1C2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A6484-3438-432C-9127-116695AC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7264"/>
                </a:solidFill>
              </a:defRPr>
            </a:pPr>
            <a:r>
              <a:rPr sz="1050" b="1">
                <a:solidFill>
                  <a:srgbClr val="557264"/>
                </a:solidFill>
              </a:rPr>
              <a:t>GOALS &amp;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296AE-5EE7-4000-855B-8F00E2C7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286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871"/>
                </a:solidFill>
              </a:defRPr>
            </a:pPr>
            <a:r>
              <a:rPr sz="1050" b="0">
                <a:solidFill>
                  <a:srgbClr val="687871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B6DF3-6B30-4982-8A2C-DEBFD45C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027"/>
                </a:solidFill>
              </a:defRPr>
            </a:pPr>
            <a:r>
              <a:rPr sz="3600" b="1">
                <a:solidFill>
                  <a:srgbClr val="183027"/>
                </a:solidFill>
              </a:rPr>
              <a:t>夢想可以有很多個，控制權也一直在使用者手上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8D19A-A2EC-49F1-8764-39FC8A2F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96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871"/>
                </a:solidFill>
              </a:defRPr>
            </a:pPr>
            <a:r>
              <a:rPr sz="1500" b="0">
                <a:solidFill>
                  <a:srgbClr val="687871"/>
                </a:solidFill>
              </a:rPr>
              <a:t>目標先寫下來，金額與期限可稍後補；設定則集中管理外觀、提醒與資料。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BC372-AB9A-4503-B5CC-B6CBD182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2724150" cy="5105400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e73821be44845"/>
          <a:srcRect xmlns:a="http://schemas.openxmlformats.org/drawingml/2006/main" l="0" t="5503" r="0" b="55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76400"/>
            <a:ext cx="2571750" cy="4953000"/>
          </a:xfrm>
          <a:prstGeom xmlns:a="http://schemas.openxmlformats.org/drawingml/2006/main" prst="roundRect">
            <a:avLst>
              <a:gd name="adj" fmla="val 592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86CF1-946E-4EA3-8552-577D6F07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00200"/>
            <a:ext cx="2724150" cy="5105400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8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641a594664b89"/>
          <a:srcRect xmlns:a="http://schemas.openxmlformats.org/drawingml/2006/main" l="0" t="5503" r="0" b="55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76650" y="1676400"/>
            <a:ext cx="2571750" cy="4953000"/>
          </a:xfrm>
          <a:prstGeom xmlns:a="http://schemas.openxmlformats.org/drawingml/2006/main" prst="roundRect">
            <a:avLst>
              <a:gd name="adj" fmla="val 5926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20AF2-CEFE-4D97-B346-236EFD61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027"/>
                </a:solidFill>
              </a:defRPr>
            </a:pPr>
            <a:r>
              <a:rPr sz="2100" b="1">
                <a:solidFill>
                  <a:srgbClr val="183027"/>
                </a:solidFill>
              </a:rPr>
              <a:t>夢想目標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42277-976E-4757-83CE-C6B0FE97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05050"/>
            <a:ext cx="4286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871"/>
                </a:solidFill>
              </a:defRPr>
            </a:pPr>
            <a:r>
              <a:rPr sz="1575" b="0">
                <a:solidFill>
                  <a:srgbClr val="687871"/>
                </a:solidFill>
              </a:rPr>
              <a:t>• 多個目標，指定一個主要目標</a:t>
            </a:r>
          </a:p>
          <a:p xmlns:a="http://schemas.openxmlformats.org/drawingml/2006/main">
            <a:pPr algn="l">
              <a:defRPr sz="1575" b="0">
                <a:solidFill>
                  <a:srgbClr val="687871"/>
                </a:solidFill>
              </a:defRPr>
            </a:pPr>
            <a:r>
              <a:rPr sz="1575" b="0">
                <a:solidFill>
                  <a:srgbClr val="687871"/>
                </a:solidFill>
              </a:rPr>
              <a:t>• 進行中、完成、封存與恢復</a:t>
            </a:r>
          </a:p>
          <a:p xmlns:a="http://schemas.openxmlformats.org/drawingml/2006/main">
            <a:pPr algn="l">
              <a:defRPr sz="1575" b="0">
                <a:solidFill>
                  <a:srgbClr val="687871"/>
                </a:solidFill>
              </a:defRPr>
            </a:pPr>
            <a:r>
              <a:rPr sz="1575" b="0">
                <a:solidFill>
                  <a:srgbClr val="687871"/>
                </a:solidFill>
              </a:rPr>
              <a:t>• 金額不足時不顯示假精確數字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A76AF-973C-4BD8-A296-B8D6953E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719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D8415-A622-4EC6-9F63-C0F9B46F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386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027"/>
                </a:solidFill>
              </a:defRPr>
            </a:pPr>
            <a:r>
              <a:rPr sz="2100" b="1">
                <a:solidFill>
                  <a:srgbClr val="183027"/>
                </a:solidFill>
              </a:rPr>
              <a:t>設定與資料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312AC-9838-49FC-B394-D385EC29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33900"/>
            <a:ext cx="4476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871"/>
                </a:solidFill>
              </a:defRPr>
            </a:pPr>
            <a:r>
              <a:rPr sz="1575" b="0">
                <a:solidFill>
                  <a:srgbClr val="687871"/>
                </a:solidFill>
              </a:rPr>
              <a:t>• 淺色／深色／跟隨系統</a:t>
            </a:r>
          </a:p>
          <a:p xmlns:a="http://schemas.openxmlformats.org/drawingml/2006/main">
            <a:pPr algn="l">
              <a:defRPr sz="1575" b="0">
                <a:solidFill>
                  <a:srgbClr val="687871"/>
                </a:solidFill>
              </a:defRPr>
            </a:pPr>
            <a:r>
              <a:rPr sz="1575" b="0">
                <a:solidFill>
                  <a:srgbClr val="687871"/>
                </a:solidFill>
              </a:rPr>
              <a:t>• 文字大小與管家名稱、語氣</a:t>
            </a:r>
          </a:p>
          <a:p xmlns:a="http://schemas.openxmlformats.org/drawingml/2006/main">
            <a:pPr algn="l">
              <a:defRPr sz="1575" b="0">
                <a:solidFill>
                  <a:srgbClr val="687871"/>
                </a:solidFill>
              </a:defRPr>
            </a:pPr>
            <a:r>
              <a:rPr sz="1575" b="0">
                <a:solidFill>
                  <a:srgbClr val="687871"/>
                </a:solidFill>
              </a:rPr>
              <a:t>• 固定支出、載具條碼與 CSV 匯出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98A6D-9FEA-4CC9-9FB9-37E76275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962650"/>
            <a:ext cx="4000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9E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7B0B3-28AA-4B0B-B0F7-9E2963EA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019800"/>
            <a:ext cx="3676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C5D45"/>
                </a:solidFill>
              </a:defRPr>
            </a:pPr>
            <a:r>
              <a:rPr sz="1275" b="1">
                <a:solidFill>
                  <a:srgbClr val="8C5D45"/>
                </a:solidFill>
              </a:rPr>
              <a:t>即時行情估算屬未來串接；目前建議值皆可編輯。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121D7-A771-4187-B7B0-8AECCF6D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7948E"/>
                </a:solidFill>
              </a:defRPr>
            </a:pPr>
            <a:r>
              <a:rPr sz="900" b="0">
                <a:solidFill>
                  <a:srgbClr val="87948E"/>
                </a:solidFill>
              </a:rPr>
              <a:t>AI 財務管家｜個人專題</a:t>
            </a:r>
          </a:p>
        </p:txBody>
      </p:sp>
    </p:spTree>
    <p:extLst>
      <p:ext uri="{BB962C8B-B14F-4D97-AF65-F5344CB8AC3E}">
        <p14:creationId xmlns:p14="http://schemas.microsoft.com/office/powerpoint/2010/main" val="16375088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55726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E12E9-C575-4DF8-9703-CDAEFAD0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5345C-6AE7-414C-808B-DEFF5459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7E1"/>
                </a:solidFill>
              </a:defRPr>
            </a:pPr>
            <a:r>
              <a:rPr sz="1050" b="1">
                <a:solidFill>
                  <a:srgbClr val="DDE7E1"/>
                </a:solidFill>
              </a:rPr>
              <a:t>08 · MVP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E10DD-2F35-4D22-98F6-8BE9BEA9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現在已經能完成一個可操作、可驗證的記帳閉環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A1189-D65A-4D76-94B8-8542FDFD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1"/>
                </a:solidFill>
              </a:defRPr>
            </a:pPr>
            <a:r>
              <a:rPr sz="1650" b="0">
                <a:solidFill>
                  <a:srgbClr val="DDE7E1"/>
                </a:solidFill>
              </a:rPr>
              <a:t>不是概念稿：前端、後端、資料保存與測試都已接起來。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081BA-DEFE-4255-81F8-F96B588E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62 / 62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F1729-E318-462A-9390-3F21A4C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7E1"/>
                </a:solidFill>
              </a:defRPr>
            </a:pPr>
            <a:r>
              <a:rPr sz="1500" b="0">
                <a:solidFill>
                  <a:srgbClr val="DDE7E1"/>
                </a:solidFill>
              </a:rPr>
              <a:t>完整測試通過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7F661-7E1C-4606-82B5-B894BA1A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43150"/>
            <a:ext cx="133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D4BDA-633E-44B0-8F03-018B570A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05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7E1"/>
                </a:solidFill>
              </a:defRPr>
            </a:pPr>
            <a:r>
              <a:rPr sz="1500" b="0">
                <a:solidFill>
                  <a:srgbClr val="DDE7E1"/>
                </a:solidFill>
              </a:rPr>
              <a:t>lint 錯誤與警告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FC563-1CBD-4237-A4A8-4B3B59DF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4315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200 / 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DAA7A-49EC-48BC-95E9-29B312A9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05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7E1"/>
                </a:solidFill>
              </a:defRPr>
            </a:pPr>
            <a:r>
              <a:rPr sz="1500" b="0">
                <a:solidFill>
                  <a:srgbClr val="DDE7E1"/>
                </a:solidFill>
              </a:rPr>
              <a:t>前端與後端健康檢查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E2698-BB36-4818-8844-A3737D1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345AE-3E08-45B4-BEEE-ABD8DF76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9E8DC"/>
                </a:solidFill>
              </a:defRPr>
            </a:pPr>
            <a:r>
              <a:rPr sz="1650" b="1">
                <a:solidFill>
                  <a:srgbClr val="F9E8DC"/>
                </a:solidFill>
              </a:rPr>
              <a:t>已完成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F7316-2BB3-4D7A-BF7B-B5A398DD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自然語言記帳與修正｜首頁、帳本、分析、設定｜目標與固定支出｜CSV 與載具條碼｜匿名裝置 JSON 保存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F0243-514E-426F-B6D4-4733E064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9E8DC"/>
                </a:solidFill>
              </a:defRPr>
            </a:pPr>
            <a:r>
              <a:rPr sz="1650" b="1">
                <a:solidFill>
                  <a:srgbClr val="F9E8DC"/>
                </a:solidFill>
              </a:rPr>
              <a:t>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D8529-261D-4436-B517-0AFBA9D7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7E1"/>
                </a:solidFill>
              </a:defRPr>
            </a:pPr>
            <a:r>
              <a:rPr sz="1500" b="0">
                <a:solidFill>
                  <a:srgbClr val="DDE7E1"/>
                </a:solidFill>
              </a:rPr>
              <a:t>帳號與雲端同步｜財政部發票串接｜原生 iOS 小工具與推播｜即時行情來源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534f26ace46ab"/>
          <a:stretch xmlns:a="http://schemas.openxmlformats.org/drawingml/2006/main"/>
        </p:blipFill>
        <p:spPr>
          <a:xfrm xmlns:a="http://schemas.openxmlformats.org/drawingml/2006/main">
            <a:off x="9982638" y="4667250"/>
            <a:ext cx="1846974" cy="20002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C4C81-1BC1-49C8-B77D-D46F595E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0555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結論：AI 不必看起來很重，也能讓記帳更自然。</a:t>
            </a:r>
          </a:p>
        </p:txBody>
      </p:sp>
    </p:spTree>
    <p:extLst>
      <p:ext uri="{BB962C8B-B14F-4D97-AF65-F5344CB8AC3E}">
        <p14:creationId xmlns:p14="http://schemas.microsoft.com/office/powerpoint/2010/main" val="510307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2026-08-26T03:00:46.9970000Z</dcterms:created>
  <dcterms:modified xsi:type="dcterms:W3CDTF">2026-08-26T03:00:46.9970000Z</dcterms:modified>
</coreProperties>
</file>